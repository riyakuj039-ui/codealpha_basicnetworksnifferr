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ell MT" panose="02020503060305020303" pitchFamily="18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6CA20-B4B7-49E0-B63E-35247CA0913A}" v="10" dt="2026-05-19T14:35:20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ya Kumar" userId="5bf90f25a8a9a54d" providerId="LiveId" clId="{833AF392-93F5-41BE-B56C-2B4FCA935512}"/>
    <pc:docChg chg="custSel modSld">
      <pc:chgData name="Lakshya Kumar" userId="5bf90f25a8a9a54d" providerId="LiveId" clId="{833AF392-93F5-41BE-B56C-2B4FCA935512}" dt="2026-05-26T13:37:32.588" v="71" actId="478"/>
      <pc:docMkLst>
        <pc:docMk/>
      </pc:docMkLst>
      <pc:sldChg chg="addSp delSp modSp mod">
        <pc:chgData name="Lakshya Kumar" userId="5bf90f25a8a9a54d" providerId="LiveId" clId="{833AF392-93F5-41BE-B56C-2B4FCA935512}" dt="2026-05-26T13:37:32.588" v="71" actId="478"/>
        <pc:sldMkLst>
          <pc:docMk/>
          <pc:sldMk cId="0" sldId="256"/>
        </pc:sldMkLst>
        <pc:spChg chg="mod">
          <ac:chgData name="Lakshya Kumar" userId="5bf90f25a8a9a54d" providerId="LiveId" clId="{833AF392-93F5-41BE-B56C-2B4FCA935512}" dt="2026-05-19T14:36:48.925" v="68" actId="14100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Lakshya Kumar" userId="5bf90f25a8a9a54d" providerId="LiveId" clId="{833AF392-93F5-41BE-B56C-2B4FCA935512}" dt="2026-05-19T14:34:20.155" v="2" actId="207"/>
          <ac:spMkLst>
            <pc:docMk/>
            <pc:sldMk cId="0" sldId="256"/>
            <ac:spMk id="5" creationId="{6D290EC1-3074-C325-2833-E5BD00FA003F}"/>
          </ac:spMkLst>
        </pc:spChg>
        <pc:spChg chg="add del mod">
          <ac:chgData name="Lakshya Kumar" userId="5bf90f25a8a9a54d" providerId="LiveId" clId="{833AF392-93F5-41BE-B56C-2B4FCA935512}" dt="2026-05-26T13:37:32.588" v="71" actId="478"/>
          <ac:spMkLst>
            <pc:docMk/>
            <pc:sldMk cId="0" sldId="256"/>
            <ac:spMk id="6" creationId="{1C6C7856-D581-5579-5352-A05C546F32D1}"/>
          </ac:spMkLst>
        </pc:spChg>
      </pc:sldChg>
      <pc:sldChg chg="addSp modSp">
        <pc:chgData name="Lakshya Kumar" userId="5bf90f25a8a9a54d" providerId="LiveId" clId="{833AF392-93F5-41BE-B56C-2B4FCA935512}" dt="2026-05-19T14:34:24.451" v="3"/>
        <pc:sldMkLst>
          <pc:docMk/>
          <pc:sldMk cId="0" sldId="257"/>
        </pc:sldMkLst>
        <pc:spChg chg="add mod">
          <ac:chgData name="Lakshya Kumar" userId="5bf90f25a8a9a54d" providerId="LiveId" clId="{833AF392-93F5-41BE-B56C-2B4FCA935512}" dt="2026-05-19T14:34:24.451" v="3"/>
          <ac:spMkLst>
            <pc:docMk/>
            <pc:sldMk cId="0" sldId="257"/>
            <ac:spMk id="13" creationId="{E9CB6984-8151-CDA1-D79C-A6F112A76135}"/>
          </ac:spMkLst>
        </pc:spChg>
      </pc:sldChg>
      <pc:sldChg chg="addSp modSp">
        <pc:chgData name="Lakshya Kumar" userId="5bf90f25a8a9a54d" providerId="LiveId" clId="{833AF392-93F5-41BE-B56C-2B4FCA935512}" dt="2026-05-19T14:34:25.776" v="4"/>
        <pc:sldMkLst>
          <pc:docMk/>
          <pc:sldMk cId="0" sldId="258"/>
        </pc:sldMkLst>
        <pc:spChg chg="add mod">
          <ac:chgData name="Lakshya Kumar" userId="5bf90f25a8a9a54d" providerId="LiveId" clId="{833AF392-93F5-41BE-B56C-2B4FCA935512}" dt="2026-05-19T14:34:25.776" v="4"/>
          <ac:spMkLst>
            <pc:docMk/>
            <pc:sldMk cId="0" sldId="258"/>
            <ac:spMk id="15" creationId="{C50F9C5D-B52A-B5F7-191F-C15753819FFA}"/>
          </ac:spMkLst>
        </pc:spChg>
      </pc:sldChg>
      <pc:sldChg chg="addSp modSp">
        <pc:chgData name="Lakshya Kumar" userId="5bf90f25a8a9a54d" providerId="LiveId" clId="{833AF392-93F5-41BE-B56C-2B4FCA935512}" dt="2026-05-19T14:34:27.115" v="5"/>
        <pc:sldMkLst>
          <pc:docMk/>
          <pc:sldMk cId="0" sldId="259"/>
        </pc:sldMkLst>
        <pc:spChg chg="add mod">
          <ac:chgData name="Lakshya Kumar" userId="5bf90f25a8a9a54d" providerId="LiveId" clId="{833AF392-93F5-41BE-B56C-2B4FCA935512}" dt="2026-05-19T14:34:27.115" v="5"/>
          <ac:spMkLst>
            <pc:docMk/>
            <pc:sldMk cId="0" sldId="259"/>
            <ac:spMk id="20" creationId="{48C5F511-6920-B1C3-F352-3955446961F0}"/>
          </ac:spMkLst>
        </pc:spChg>
      </pc:sldChg>
      <pc:sldChg chg="addSp modSp">
        <pc:chgData name="Lakshya Kumar" userId="5bf90f25a8a9a54d" providerId="LiveId" clId="{833AF392-93F5-41BE-B56C-2B4FCA935512}" dt="2026-05-19T14:34:30.802" v="6"/>
        <pc:sldMkLst>
          <pc:docMk/>
          <pc:sldMk cId="0" sldId="260"/>
        </pc:sldMkLst>
        <pc:spChg chg="add mod">
          <ac:chgData name="Lakshya Kumar" userId="5bf90f25a8a9a54d" providerId="LiveId" clId="{833AF392-93F5-41BE-B56C-2B4FCA935512}" dt="2026-05-19T14:34:30.802" v="6"/>
          <ac:spMkLst>
            <pc:docMk/>
            <pc:sldMk cId="0" sldId="260"/>
            <ac:spMk id="8" creationId="{A023AD68-978B-1137-C0D2-751F3D228192}"/>
          </ac:spMkLst>
        </pc:spChg>
      </pc:sldChg>
      <pc:sldChg chg="addSp modSp">
        <pc:chgData name="Lakshya Kumar" userId="5bf90f25a8a9a54d" providerId="LiveId" clId="{833AF392-93F5-41BE-B56C-2B4FCA935512}" dt="2026-05-19T14:34:33.634" v="7"/>
        <pc:sldMkLst>
          <pc:docMk/>
          <pc:sldMk cId="0" sldId="261"/>
        </pc:sldMkLst>
        <pc:spChg chg="add mod">
          <ac:chgData name="Lakshya Kumar" userId="5bf90f25a8a9a54d" providerId="LiveId" clId="{833AF392-93F5-41BE-B56C-2B4FCA935512}" dt="2026-05-19T14:34:33.634" v="7"/>
          <ac:spMkLst>
            <pc:docMk/>
            <pc:sldMk cId="0" sldId="261"/>
            <ac:spMk id="16" creationId="{94B4B220-4300-4392-1F3A-52C248D3C55F}"/>
          </ac:spMkLst>
        </pc:spChg>
      </pc:sldChg>
      <pc:sldChg chg="addSp modSp">
        <pc:chgData name="Lakshya Kumar" userId="5bf90f25a8a9a54d" providerId="LiveId" clId="{833AF392-93F5-41BE-B56C-2B4FCA935512}" dt="2026-05-19T14:34:35.610" v="8"/>
        <pc:sldMkLst>
          <pc:docMk/>
          <pc:sldMk cId="0" sldId="262"/>
        </pc:sldMkLst>
        <pc:spChg chg="add mod">
          <ac:chgData name="Lakshya Kumar" userId="5bf90f25a8a9a54d" providerId="LiveId" clId="{833AF392-93F5-41BE-B56C-2B4FCA935512}" dt="2026-05-19T14:34:35.610" v="8"/>
          <ac:spMkLst>
            <pc:docMk/>
            <pc:sldMk cId="0" sldId="262"/>
            <ac:spMk id="13" creationId="{10803B32-FA8D-48B8-68FC-2DABB5C39DC0}"/>
          </ac:spMkLst>
        </pc:spChg>
      </pc:sldChg>
      <pc:sldChg chg="addSp modSp">
        <pc:chgData name="Lakshya Kumar" userId="5bf90f25a8a9a54d" providerId="LiveId" clId="{833AF392-93F5-41BE-B56C-2B4FCA935512}" dt="2026-05-19T14:34:37.714" v="9"/>
        <pc:sldMkLst>
          <pc:docMk/>
          <pc:sldMk cId="0" sldId="263"/>
        </pc:sldMkLst>
        <pc:spChg chg="add mod">
          <ac:chgData name="Lakshya Kumar" userId="5bf90f25a8a9a54d" providerId="LiveId" clId="{833AF392-93F5-41BE-B56C-2B4FCA935512}" dt="2026-05-19T14:34:37.714" v="9"/>
          <ac:spMkLst>
            <pc:docMk/>
            <pc:sldMk cId="0" sldId="263"/>
            <ac:spMk id="23" creationId="{1D2C64E5-D3C6-C038-0FE7-E9FC490679E1}"/>
          </ac:spMkLst>
        </pc:spChg>
      </pc:sldChg>
      <pc:sldChg chg="addSp modSp">
        <pc:chgData name="Lakshya Kumar" userId="5bf90f25a8a9a54d" providerId="LiveId" clId="{833AF392-93F5-41BE-B56C-2B4FCA935512}" dt="2026-05-19T14:34:39.770" v="10"/>
        <pc:sldMkLst>
          <pc:docMk/>
          <pc:sldMk cId="0" sldId="264"/>
        </pc:sldMkLst>
        <pc:spChg chg="add mod">
          <ac:chgData name="Lakshya Kumar" userId="5bf90f25a8a9a54d" providerId="LiveId" clId="{833AF392-93F5-41BE-B56C-2B4FCA935512}" dt="2026-05-19T14:34:39.770" v="10"/>
          <ac:spMkLst>
            <pc:docMk/>
            <pc:sldMk cId="0" sldId="264"/>
            <ac:spMk id="14" creationId="{35620456-DB24-B7EE-6D81-5427736B235B}"/>
          </ac:spMkLst>
        </pc:spChg>
      </pc:sldChg>
      <pc:sldChg chg="addSp delSp modSp mod">
        <pc:chgData name="Lakshya Kumar" userId="5bf90f25a8a9a54d" providerId="LiveId" clId="{833AF392-93F5-41BE-B56C-2B4FCA935512}" dt="2026-05-19T14:37:10.467" v="69" actId="478"/>
        <pc:sldMkLst>
          <pc:docMk/>
          <pc:sldMk cId="0" sldId="265"/>
        </pc:sldMkLst>
        <pc:picChg chg="mod">
          <ac:chgData name="Lakshya Kumar" userId="5bf90f25a8a9a54d" providerId="LiveId" clId="{833AF392-93F5-41BE-B56C-2B4FCA935512}" dt="2026-05-19T14:35:06.489" v="13" actId="1076"/>
          <ac:picMkLst>
            <pc:docMk/>
            <pc:sldMk cId="0" sldId="265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761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94296"/>
            <a:ext cx="4722763" cy="15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Phishing Awareness: Become a Digital Defender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3196381"/>
            <a:ext cx="4722763" cy="85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Every day, millions of phishing attempts target real people. Learn to recognize the bait, understand the tactics, and protect yourself — and your organization — from cyber threats.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90EC1-3074-C325-2833-E5BD00FA003F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7808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What is Phishing? The Art of Deception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925119" y="1830065"/>
            <a:ext cx="2290465" cy="1583308"/>
          </a:xfrm>
          <a:prstGeom prst="roundRect">
            <a:avLst>
              <a:gd name="adj" fmla="val 376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81165" y="1986111"/>
            <a:ext cx="243557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The Tactic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081165" y="2336081"/>
            <a:ext cx="1978372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Attackers impersonate trustworthy entities — banks, colleagues, or government agencies — to gain your confidence.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57342" y="1830065"/>
            <a:ext cx="2290539" cy="1583308"/>
          </a:xfrm>
          <a:prstGeom prst="roundRect">
            <a:avLst>
              <a:gd name="adj" fmla="val 376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3388" y="1986111"/>
            <a:ext cx="243564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The Goal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13388" y="2336081"/>
            <a:ext cx="197844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Trick you into revealing passwords, credit card numbers, or personal data for financial gain.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25119" y="3555132"/>
            <a:ext cx="4722763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1165" y="3711178"/>
            <a:ext cx="24951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The Method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81165" y="4061147"/>
            <a:ext cx="44106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 form of </a:t>
            </a:r>
            <a:r>
              <a:rPr lang="en-US" sz="110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social engineering</a:t>
            </a: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— manipulating human psychology rather than exploiting technical flaws.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CB6984-8151-CDA1-D79C-A6F112A76135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4056"/>
            <a:ext cx="4769718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The Scale of the Threat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7519" y="1788244"/>
            <a:ext cx="28277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94%</a:t>
            </a:r>
            <a:endParaRPr lang="en-US" sz="3650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134" y="2433191"/>
            <a:ext cx="22665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Malware via Email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783160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Of detected malware is delivered through phishing emails. </a:t>
            </a:r>
            <a:r>
              <a:rPr lang="en-US" sz="1100" i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(CyberNut)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43833" y="1788244"/>
            <a:ext cx="28277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$4.45M</a:t>
            </a:r>
            <a:endParaRPr lang="en-US" sz="365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24448" y="2433191"/>
            <a:ext cx="22665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Average Breach Cost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72433" y="2783160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The average cost of a data breach in 2023, driven largely by phishing incidents.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20147" y="1788244"/>
            <a:ext cx="28277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1 in 3</a:t>
            </a:r>
            <a:endParaRPr lang="en-US" sz="365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00763" y="2433191"/>
            <a:ext cx="22665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Users Targeted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48747" y="2783160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One in three internet users will experience a phishing attempt in their lifetime.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6119" y="3495377"/>
            <a:ext cx="8151763" cy="744066"/>
          </a:xfrm>
          <a:prstGeom prst="roundRect">
            <a:avLst>
              <a:gd name="adj" fmla="val 8002"/>
            </a:avLst>
          </a:prstGeom>
          <a:solidFill>
            <a:srgbClr val="FCF2B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691384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3672557"/>
            <a:ext cx="754930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Falling victim can lead to data breaches, identity theft, and devastating financial loss — for both individuals and organizations.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0F9C5D-B52A-B5F7-191F-C15753819FFA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63066"/>
            <a:ext cx="7272561" cy="430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Recognizing the Bait: Spotting Phishing Emails</a:t>
            </a:r>
            <a:endParaRPr lang="en-US" sz="2600" dirty="0">
              <a:latin typeface="Bell MT" panose="020205030603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526902"/>
            <a:ext cx="5067672" cy="266052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51488" y="1039118"/>
            <a:ext cx="2599060" cy="838870"/>
          </a:xfrm>
          <a:prstGeom prst="roundRect">
            <a:avLst>
              <a:gd name="adj" fmla="val 817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37200" y="1039118"/>
            <a:ext cx="57150" cy="838870"/>
          </a:xfrm>
          <a:prstGeom prst="roundRect">
            <a:avLst>
              <a:gd name="adj" fmla="val 84651"/>
            </a:avLst>
          </a:prstGeom>
          <a:solidFill>
            <a:srgbClr val="FF954F"/>
          </a:solidFill>
          <a:ln/>
        </p:spPr>
      </p:sp>
      <p:sp>
        <p:nvSpPr>
          <p:cNvPr id="6" name="Text 3"/>
          <p:cNvSpPr/>
          <p:nvPr/>
        </p:nvSpPr>
        <p:spPr>
          <a:xfrm>
            <a:off x="6123756" y="1168524"/>
            <a:ext cx="211298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🎣</a:t>
            </a:r>
            <a:r>
              <a:rPr lang="en-US" sz="13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Suspicious Sender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3756" y="1477268"/>
            <a:ext cx="2297385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Mismatched addresses or generic greetings like "Dear Customer."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951488" y="1971526"/>
            <a:ext cx="2599060" cy="838870"/>
          </a:xfrm>
          <a:prstGeom prst="roundRect">
            <a:avLst>
              <a:gd name="adj" fmla="val 817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37200" y="1971526"/>
            <a:ext cx="57150" cy="838870"/>
          </a:xfrm>
          <a:prstGeom prst="roundRect">
            <a:avLst>
              <a:gd name="adj" fmla="val 84651"/>
            </a:avLst>
          </a:prstGeom>
          <a:solidFill>
            <a:srgbClr val="FF954F"/>
          </a:solidFill>
          <a:ln/>
        </p:spPr>
      </p:sp>
      <p:sp>
        <p:nvSpPr>
          <p:cNvPr id="10" name="Text 7"/>
          <p:cNvSpPr/>
          <p:nvPr/>
        </p:nvSpPr>
        <p:spPr>
          <a:xfrm>
            <a:off x="6123756" y="2100932"/>
            <a:ext cx="212377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⚡</a:t>
            </a:r>
            <a:r>
              <a:rPr lang="en-US" sz="13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Urgency &amp; Threats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123756" y="2409676"/>
            <a:ext cx="2297385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"Your account will be terminated" — designed to rush your judgment.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951488" y="2903934"/>
            <a:ext cx="2599060" cy="838870"/>
          </a:xfrm>
          <a:prstGeom prst="roundRect">
            <a:avLst>
              <a:gd name="adj" fmla="val 817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37200" y="2903934"/>
            <a:ext cx="57150" cy="838870"/>
          </a:xfrm>
          <a:prstGeom prst="roundRect">
            <a:avLst>
              <a:gd name="adj" fmla="val 84651"/>
            </a:avLst>
          </a:prstGeom>
          <a:solidFill>
            <a:srgbClr val="FF954F"/>
          </a:solidFill>
          <a:ln/>
        </p:spPr>
      </p:sp>
      <p:sp>
        <p:nvSpPr>
          <p:cNvPr id="14" name="Text 11"/>
          <p:cNvSpPr/>
          <p:nvPr/>
        </p:nvSpPr>
        <p:spPr>
          <a:xfrm>
            <a:off x="6123756" y="3033340"/>
            <a:ext cx="211298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✍️</a:t>
            </a:r>
            <a:r>
              <a:rPr lang="en-US" sz="13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Poor Grammar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23756" y="3342084"/>
            <a:ext cx="2297385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Unprofessional language or spelling errors are major red flags.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951488" y="3836343"/>
            <a:ext cx="2599060" cy="838870"/>
          </a:xfrm>
          <a:prstGeom prst="roundRect">
            <a:avLst>
              <a:gd name="adj" fmla="val 817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37200" y="3836343"/>
            <a:ext cx="57150" cy="838870"/>
          </a:xfrm>
          <a:prstGeom prst="roundRect">
            <a:avLst>
              <a:gd name="adj" fmla="val 84651"/>
            </a:avLst>
          </a:prstGeom>
          <a:solidFill>
            <a:srgbClr val="FF954F"/>
          </a:solidFill>
          <a:ln/>
        </p:spPr>
      </p:sp>
      <p:sp>
        <p:nvSpPr>
          <p:cNvPr id="18" name="Text 15"/>
          <p:cNvSpPr/>
          <p:nvPr/>
        </p:nvSpPr>
        <p:spPr>
          <a:xfrm>
            <a:off x="6123756" y="3965749"/>
            <a:ext cx="211298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🔗</a:t>
            </a:r>
            <a:r>
              <a:rPr lang="en-US" sz="13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Unexpected Links</a:t>
            </a:r>
            <a:endParaRPr lang="en-US" sz="1300" dirty="0">
              <a:latin typeface="Bell MT" panose="02020503060305020303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123756" y="4274493"/>
            <a:ext cx="2297385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Never click links or open attachments from unknown sources.</a:t>
            </a:r>
            <a:endParaRPr lang="en-US" sz="900" dirty="0">
              <a:latin typeface="Bell MT" panose="02020503060305020303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5F511-6920-B1C3-F352-3955446961F0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12093"/>
            <a:ext cx="7576245" cy="422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Navigating the Illusion: Identifying Fake Websites</a:t>
            </a:r>
            <a:endParaRPr lang="en-US" sz="2550" dirty="0">
              <a:latin typeface="Bell MT" panose="020205030603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70508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89" y="970508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113880"/>
            <a:ext cx="2246635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How to Verify a Website</a:t>
            </a:r>
            <a:endParaRPr lang="en-US" sz="1250" dirty="0">
              <a:latin typeface="Bell MT" panose="020205030603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714503" y="2414885"/>
            <a:ext cx="3759622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Before entering any credentials or personal data, take 30 seconds to inspect the page.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714503" y="2759571"/>
            <a:ext cx="3759622" cy="88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Hover over links to reveal the </a:t>
            </a:r>
            <a:r>
              <a:rPr lang="en-US" sz="85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actual URL</a:t>
            </a: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before clicking</a:t>
            </a:r>
            <a:endParaRPr lang="en-US" sz="850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Look for </a:t>
            </a:r>
            <a:r>
              <a:rPr lang="en-US" sz="85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https://</a:t>
            </a: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and the padlock icon in your browser</a:t>
            </a:r>
            <a:endParaRPr lang="en-US" sz="850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Check for </a:t>
            </a:r>
            <a:r>
              <a:rPr lang="en-US" sz="85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detailed contact information</a:t>
            </a: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and professional design</a:t>
            </a:r>
            <a:endParaRPr lang="en-US" sz="850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ct val="97000"/>
              </a:lnSpc>
              <a:buSzPct val="100000"/>
              <a:buChar char="•"/>
            </a:pP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Legitimate sites </a:t>
            </a:r>
            <a:r>
              <a:rPr lang="en-US" sz="85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rarely ask for passwords</a:t>
            </a:r>
            <a:r>
              <a:rPr lang="en-US" sz="8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via pop-ups or unsolicited forms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3AD68-978B-1137-C0D2-751F3D228192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372145"/>
            <a:ext cx="4831259" cy="943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5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The Social Engineer's Playbook</a:t>
            </a:r>
            <a:endParaRPr lang="en-US" sz="2850" dirty="0">
              <a:latin typeface="Bell MT" panose="02020503060305020303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0871" y="1484486"/>
            <a:ext cx="252487" cy="2524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63851" y="1523926"/>
            <a:ext cx="22721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Fear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263851" y="1827237"/>
            <a:ext cx="4438278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Creates panic to bypass critical thinking. </a:t>
            </a:r>
            <a:r>
              <a:rPr lang="en-US" sz="950" i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"Your account is compromised — act now!"</a:t>
            </a:r>
            <a:endParaRPr lang="en-US" sz="950" dirty="0">
              <a:latin typeface="Bell MT" panose="02020503060305020303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0871" y="2362423"/>
            <a:ext cx="252487" cy="2524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63851" y="2401863"/>
            <a:ext cx="22721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Curiosity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263851" y="2705174"/>
            <a:ext cx="4438278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Piques interest with enticing offers or shocking news. </a:t>
            </a:r>
            <a:r>
              <a:rPr lang="en-US" sz="950" i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"You've won a prize!"</a:t>
            </a:r>
            <a:endParaRPr lang="en-US" sz="950" dirty="0">
              <a:latin typeface="Bell MT" panose="02020503060305020303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0871" y="3240360"/>
            <a:ext cx="252487" cy="2524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63851" y="3279800"/>
            <a:ext cx="22721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Excitement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263851" y="3583112"/>
            <a:ext cx="4438278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Promises rewards or exclusive access to encourage immediate action. </a:t>
            </a:r>
            <a:r>
              <a:rPr lang="en-US" sz="950" i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"Click here for a free gift!"</a:t>
            </a:r>
            <a:endParaRPr lang="en-US" sz="950" dirty="0">
              <a:latin typeface="Bell MT" panose="02020503060305020303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0871" y="4118297"/>
            <a:ext cx="252487" cy="25248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63851" y="4157737"/>
            <a:ext cx="22721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Impersonation</a:t>
            </a:r>
            <a:endParaRPr lang="en-US" sz="1400" dirty="0">
              <a:latin typeface="Bell MT" panose="02020503060305020303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263851" y="4461049"/>
            <a:ext cx="4438278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Pretending to be a known company, government agency, or even a colleague you trust.</a:t>
            </a:r>
            <a:endParaRPr lang="en-US" sz="950" dirty="0">
              <a:latin typeface="Bell MT" panose="02020503060305020303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B4B220-4300-4392-1F3A-52C248D3C55F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78482"/>
            <a:ext cx="8640440" cy="48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Spot the Difference: Your Security Depends On It</a:t>
            </a:r>
            <a:endParaRPr lang="en-US" sz="29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9610" y="1191518"/>
            <a:ext cx="8694390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Fake login pages can look </a:t>
            </a:r>
            <a:r>
              <a:rPr lang="en-US" sz="1000" i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almost identical</a:t>
            </a:r>
            <a:r>
              <a:rPr lang="en-US" sz="10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to legitimate ones. A single character difference in the URL is all it takes.</a:t>
            </a:r>
            <a:endParaRPr lang="en-US" sz="1000" dirty="0">
              <a:latin typeface="Bell MT" panose="02020503060305020303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0" y="1481658"/>
            <a:ext cx="2915692" cy="18020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610" y="3429149"/>
            <a:ext cx="23040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✅</a:t>
            </a:r>
            <a:r>
              <a:rPr lang="en-US" sz="145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Legitimate Site</a:t>
            </a:r>
            <a:endParaRPr lang="en-US" sz="1450" dirty="0">
              <a:latin typeface="Bell MT" panose="020205030603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9610" y="3739009"/>
            <a:ext cx="4049613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Correct URL, HTTPS enabled, professional design, official contact details visible.</a:t>
            </a:r>
            <a:endParaRPr lang="en-US" sz="1000" dirty="0">
              <a:latin typeface="Bell MT" panose="02020503060305020303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703" y="1481658"/>
            <a:ext cx="2915766" cy="18020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4703" y="3429149"/>
            <a:ext cx="23040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🚨</a:t>
            </a:r>
            <a:r>
              <a:rPr lang="en-US" sz="145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Fake Site</a:t>
            </a:r>
            <a:endParaRPr lang="en-US" sz="1450" dirty="0">
              <a:latin typeface="Bell MT" panose="02020503060305020303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644703" y="3739009"/>
            <a:ext cx="4049688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Slight URL misspelling, no HTTPS, generic layout, requests credentials via pop-up.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49610" y="4188321"/>
            <a:ext cx="8244780" cy="476622"/>
          </a:xfrm>
          <a:prstGeom prst="roundRect">
            <a:avLst>
              <a:gd name="adj" fmla="val 11321"/>
            </a:avLst>
          </a:prstGeom>
          <a:solidFill>
            <a:srgbClr val="FFD1B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48" y="4360218"/>
            <a:ext cx="160586" cy="12843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7073" y="4336777"/>
            <a:ext cx="8156079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Always check the URL bar</a:t>
            </a:r>
            <a:r>
              <a:rPr lang="en-US" sz="1000" dirty="0">
                <a:solidFill>
                  <a:srgbClr val="000000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before entering any credentials — even if the page looks perfectly familiar.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803B32-FA8D-48B8-68FC-2DABB5C39DC0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6934"/>
            <a:ext cx="7482185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Your Shield: Best Practices to Stay Safe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520279"/>
            <a:ext cx="74071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749251"/>
            <a:ext cx="262272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858194"/>
            <a:ext cx="253089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Think Before You Click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2208163"/>
            <a:ext cx="262272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Pause and scrutinize every unexpected message — even from known senders.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60601" y="1520279"/>
            <a:ext cx="74071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60601" y="1749251"/>
            <a:ext cx="262272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858194"/>
            <a:ext cx="24951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Verify Independently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60601" y="2208163"/>
            <a:ext cx="262272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Contact the supposed sender through a trusted, official channel.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25083" y="1520279"/>
            <a:ext cx="74071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25083" y="1749251"/>
            <a:ext cx="2622724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1858194"/>
            <a:ext cx="2622724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Use Strong, Unique Passwords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25083" y="2473077"/>
            <a:ext cx="262272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Employ a password manager to generate and store complex credentials.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6119" y="3273847"/>
            <a:ext cx="74071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arcellus Light" pitchFamily="34" charset="-122"/>
                <a:cs typeface="Marcellus Light" pitchFamily="34" charset="-120"/>
              </a:rPr>
              <a:t>04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96119" y="3502819"/>
            <a:ext cx="4004965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611761"/>
            <a:ext cx="432256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Enable Multi-Factor Authentication (MFA)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6119" y="3961730"/>
            <a:ext cx="400496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Adds a critical second layer of security beyond just a password.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42842" y="3273847"/>
            <a:ext cx="74071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arcellus Light" pitchFamily="34" charset="-122"/>
                <a:cs typeface="Marcellus Light" pitchFamily="34" charset="-120"/>
              </a:rPr>
              <a:t>05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42842" y="3502819"/>
            <a:ext cx="4004965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611761"/>
            <a:ext cx="265777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Keep Software Updated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42842" y="3961730"/>
            <a:ext cx="446216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Patches fix vulnerabilities attackers actively exploit.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2C64E5-D3C6-C038-0FE7-E9FC490679E1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3776"/>
            <a:ext cx="8354839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Interactive Quiz: Test Your Phishing Smarts!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4022" y="1666205"/>
            <a:ext cx="4107135" cy="2553519"/>
          </a:xfrm>
          <a:prstGeom prst="roundRect">
            <a:avLst>
              <a:gd name="adj" fmla="val 3997"/>
            </a:avLst>
          </a:prstGeom>
          <a:solidFill>
            <a:srgbClr val="532418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5781" y="1825675"/>
            <a:ext cx="851297" cy="232395"/>
          </a:xfrm>
          <a:prstGeom prst="roundRect">
            <a:avLst>
              <a:gd name="adj" fmla="val 20497"/>
            </a:avLst>
          </a:prstGeom>
          <a:solidFill>
            <a:srgbClr val="4D1E00"/>
          </a:solidFill>
          <a:ln/>
        </p:spPr>
      </p:sp>
      <p:sp>
        <p:nvSpPr>
          <p:cNvPr id="5" name="Text 3"/>
          <p:cNvSpPr/>
          <p:nvPr/>
        </p:nvSpPr>
        <p:spPr>
          <a:xfrm>
            <a:off x="620837" y="1868165"/>
            <a:ext cx="1138386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SCENARIO 1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5781" y="2114773"/>
            <a:ext cx="24951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The Netflix Email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5781" y="2521446"/>
            <a:ext cx="3823618" cy="680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You receive an email from "Netflix Support" saying your payment failed, with a link to update your card.</a:t>
            </a:r>
            <a:endParaRPr lang="en-US" sz="1100" dirty="0">
              <a:latin typeface="Bell MT" panose="02020503060305020303" pitchFamily="18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What do you do?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5781" y="3329285"/>
            <a:ext cx="3823618" cy="84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A) Click the link and update your card</a:t>
            </a:r>
            <a:endParaRPr lang="en-US" sz="1100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B) </a:t>
            </a:r>
            <a:r>
              <a:rPr lang="en-US" sz="1100" dirty="0">
                <a:solidFill>
                  <a:srgbClr val="000000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100" b="1" dirty="0">
                <a:solidFill>
                  <a:srgbClr val="FFFFF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Log in directly through the official Netflix website</a:t>
            </a:r>
            <a:endParaRPr lang="en-US" sz="1100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C) Reply with your credit card info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49701" y="1825675"/>
            <a:ext cx="893787" cy="251445"/>
          </a:xfrm>
          <a:prstGeom prst="roundRect">
            <a:avLst>
              <a:gd name="adj" fmla="val 18944"/>
            </a:avLst>
          </a:prstGeom>
          <a:noFill/>
          <a:ln w="9525">
            <a:solidFill>
              <a:srgbClr val="FF9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4281" y="1877690"/>
            <a:ext cx="1161827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FF95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SCENARIO 2</a:t>
            </a:r>
            <a:endParaRPr lang="en-US" sz="850" dirty="0">
              <a:latin typeface="Bell MT" panose="020205030603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49701" y="2133823"/>
            <a:ext cx="24951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The Free iPhone Text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49701" y="2540496"/>
            <a:ext cx="3902943" cy="680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 text claims you've won a free iPhone and asks you to click a link to claim it.</a:t>
            </a:r>
            <a:endParaRPr lang="en-US" sz="1100" dirty="0">
              <a:latin typeface="Bell MT" panose="02020503060305020303" pitchFamily="18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What's the best action?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49701" y="3348335"/>
            <a:ext cx="3902943" cy="656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A) Click the link immediately</a:t>
            </a:r>
            <a:endParaRPr lang="en-US" sz="1100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B) Forward to your friends</a:t>
            </a:r>
            <a:endParaRPr lang="en-US" sz="1100" dirty="0">
              <a:latin typeface="Bell MT" panose="02020503060305020303" pitchFamily="18" charset="0"/>
            </a:endParaRPr>
          </a:p>
          <a:p>
            <a:pPr marL="342900" indent="-34290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C) </a:t>
            </a:r>
            <a:r>
              <a:rPr lang="en-US" sz="1100" dirty="0">
                <a:solidFill>
                  <a:srgbClr val="000000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10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Delete the message and block the sender</a:t>
            </a:r>
            <a:endParaRPr lang="en-US" sz="1100" dirty="0">
              <a:latin typeface="Bell MT" panose="02020503060305020303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20456-DB24-B7EE-6D81-5427736B235B}"/>
              </a:ext>
            </a:extLst>
          </p:cNvPr>
          <p:cNvSpPr/>
          <p:nvPr/>
        </p:nvSpPr>
        <p:spPr>
          <a:xfrm>
            <a:off x="7990449" y="4818185"/>
            <a:ext cx="1153551" cy="325315"/>
          </a:xfrm>
          <a:prstGeom prst="rect">
            <a:avLst/>
          </a:prstGeom>
          <a:solidFill>
            <a:srgbClr val="FDFC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41523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162" y="396032"/>
            <a:ext cx="4784675" cy="993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You Are the First Line of Defense</a:t>
            </a:r>
            <a:endParaRPr lang="en-US" sz="3000" dirty="0">
              <a:latin typeface="Bell MT" panose="020205030603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5162" y="1576313"/>
            <a:ext cx="4784675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Phishing attacks prey on human error — but </a:t>
            </a:r>
            <a:r>
              <a:rPr lang="en-US" sz="1000" b="1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awareness is your strongest weapon.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65162" y="2051149"/>
            <a:ext cx="4784675" cy="1885206"/>
          </a:xfrm>
          <a:prstGeom prst="roundRect">
            <a:avLst>
              <a:gd name="adj" fmla="val 296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9450" y="2065437"/>
            <a:ext cx="2378050" cy="1095673"/>
          </a:xfrm>
          <a:prstGeom prst="roundRect">
            <a:avLst>
              <a:gd name="adj" fmla="val 5095"/>
            </a:avLst>
          </a:prstGeom>
          <a:solidFill>
            <a:srgbClr val="FFFFF4"/>
          </a:solidFill>
          <a:ln/>
        </p:spPr>
      </p:sp>
      <p:sp>
        <p:nvSpPr>
          <p:cNvPr id="7" name="Text 4"/>
          <p:cNvSpPr/>
          <p:nvPr/>
        </p:nvSpPr>
        <p:spPr>
          <a:xfrm>
            <a:off x="612353" y="2198340"/>
            <a:ext cx="2367707" cy="253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🔍</a:t>
            </a:r>
            <a:r>
              <a:rPr lang="en-US" sz="15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Recognize</a:t>
            </a:r>
            <a:endParaRPr lang="en-US" sz="1500" dirty="0">
              <a:latin typeface="Bell MT" panose="02020503060305020303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353" y="2526134"/>
            <a:ext cx="2112243" cy="50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Know the signs: suspicious senders, urgency, poor grammar, and fake URLs.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857500" y="2065437"/>
            <a:ext cx="2378050" cy="1095673"/>
          </a:xfrm>
          <a:prstGeom prst="rect">
            <a:avLst/>
          </a:prstGeom>
          <a:solidFill>
            <a:srgbClr val="FFFFF4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065437"/>
            <a:ext cx="14288" cy="1095673"/>
          </a:xfrm>
          <a:prstGeom prst="roundRect">
            <a:avLst>
              <a:gd name="adj" fmla="val 390684"/>
            </a:avLst>
          </a:prstGeom>
          <a:solidFill>
            <a:srgbClr val="FFE0CC"/>
          </a:solidFill>
          <a:ln/>
        </p:spPr>
      </p:sp>
      <p:sp>
        <p:nvSpPr>
          <p:cNvPr id="11" name="Text 8"/>
          <p:cNvSpPr/>
          <p:nvPr/>
        </p:nvSpPr>
        <p:spPr>
          <a:xfrm>
            <a:off x="2990404" y="2198340"/>
            <a:ext cx="2367707" cy="253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🧠</a:t>
            </a:r>
            <a:r>
              <a:rPr lang="en-US" sz="15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Understand</a:t>
            </a:r>
            <a:endParaRPr lang="en-US" sz="1500" dirty="0">
              <a:latin typeface="Bell MT" panose="020205030603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990404" y="2526134"/>
            <a:ext cx="2112243" cy="50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Learn the tactics — fear, curiosity, excitement, and impersonation.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9450" y="3161109"/>
            <a:ext cx="4756100" cy="760958"/>
          </a:xfrm>
          <a:prstGeom prst="rect">
            <a:avLst/>
          </a:prstGeom>
          <a:solidFill>
            <a:srgbClr val="FFFF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79450" y="3161109"/>
            <a:ext cx="4756100" cy="14288"/>
          </a:xfrm>
          <a:prstGeom prst="roundRect">
            <a:avLst>
              <a:gd name="adj" fmla="val 390684"/>
            </a:avLst>
          </a:prstGeom>
          <a:solidFill>
            <a:srgbClr val="FFE0CC"/>
          </a:solidFill>
          <a:ln/>
        </p:spPr>
      </p:sp>
      <p:sp>
        <p:nvSpPr>
          <p:cNvPr id="15" name="Text 12"/>
          <p:cNvSpPr/>
          <p:nvPr/>
        </p:nvSpPr>
        <p:spPr>
          <a:xfrm>
            <a:off x="612353" y="3294013"/>
            <a:ext cx="2367707" cy="253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🛡️</a:t>
            </a:r>
            <a:r>
              <a:rPr lang="en-US" sz="1500" dirty="0">
                <a:solidFill>
                  <a:srgbClr val="67534F"/>
                </a:solidFill>
                <a:latin typeface="Bell MT" panose="02020503060305020303" pitchFamily="18" charset="0"/>
                <a:ea typeface="Marcellus" pitchFamily="34" charset="-122"/>
                <a:cs typeface="Marcellus" pitchFamily="34" charset="-120"/>
              </a:rPr>
              <a:t> Act</a:t>
            </a:r>
            <a:endParaRPr lang="en-US" sz="1500" dirty="0">
              <a:latin typeface="Bell MT" panose="020205030603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2353" y="3621807"/>
            <a:ext cx="4947493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Practice safe habits: verify, use MFA, and keep software updated.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5162" y="4076477"/>
            <a:ext cx="4784675" cy="670992"/>
          </a:xfrm>
          <a:prstGeom prst="roundRect">
            <a:avLst>
              <a:gd name="adj" fmla="val 8319"/>
            </a:avLst>
          </a:prstGeom>
          <a:solidFill>
            <a:srgbClr val="B6FCB8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66" y="4254847"/>
            <a:ext cx="166092" cy="1329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7062" y="4234235"/>
            <a:ext cx="4219873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Stay vigilant, stay informed, and stay safe online.</a:t>
            </a:r>
            <a:r>
              <a:rPr lang="en-US" sz="1000" dirty="0">
                <a:solidFill>
                  <a:srgbClr val="000000"/>
                </a:solidFill>
                <a:latin typeface="Bell MT" panose="02020503060305020303" pitchFamily="18" charset="0"/>
                <a:ea typeface="Montserrat" pitchFamily="34" charset="-122"/>
                <a:cs typeface="Montserrat" pitchFamily="34" charset="-120"/>
              </a:rPr>
              <a:t> Your awareness protects not just you — but your entire organization.</a:t>
            </a:r>
            <a:endParaRPr lang="en-US" sz="10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788</Words>
  <Application>Microsoft Office PowerPoint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Bell MT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Lakshya Kumar</cp:lastModifiedBy>
  <cp:revision>2</cp:revision>
  <dcterms:created xsi:type="dcterms:W3CDTF">2026-05-19T14:09:31Z</dcterms:created>
  <dcterms:modified xsi:type="dcterms:W3CDTF">2026-05-26T13:37:34Z</dcterms:modified>
</cp:coreProperties>
</file>